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315F83"/>
          </a:solidFill>
          <a:ln w="12700">
            <a:solidFill>
              <a:srgbClr val="315F8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21792" y="301752"/>
            <a:ext cx="10881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315F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PROJECT TITLE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21792" y="667512"/>
            <a:ext cx="10972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8324A"/>
                </a:solidFill>
              </a:rPr>
              <a:t>Predicting Building Damage After the Nepal Earthquake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621792" y="1353312"/>
            <a:ext cx="10927080" cy="0"/>
          </a:xfrm>
          <a:prstGeom prst="line">
            <a:avLst/>
          </a:prstGeom>
          <a:noFill/>
          <a:ln w="12700">
            <a:solidFill>
              <a:srgbClr val="D9E2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21792" y="6528816"/>
            <a:ext cx="10515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26579"/>
                </a:solidFill>
              </a:rPr>
              <a:t>Machine Learning Mini-Project  •  Nepal Earthquake Damage Prediction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192256" y="6510528"/>
            <a:ext cx="320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6579"/>
                </a:solidFill>
              </a:rPr>
              <a:t>1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749808" y="1673352"/>
            <a:ext cx="106984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8324A"/>
                </a:solidFill>
              </a:rPr>
              <a:t>Application of Machine Learning Methods to Predict the Level of Building Damage in the Nepal Earthquake</a:t>
            </a:r>
            <a:endParaRPr lang="en-US" sz="2700" dirty="0"/>
          </a:p>
        </p:txBody>
      </p:sp>
      <p:sp>
        <p:nvSpPr>
          <p:cNvPr id="9" name="Text 7"/>
          <p:cNvSpPr/>
          <p:nvPr/>
        </p:nvSpPr>
        <p:spPr>
          <a:xfrm>
            <a:off x="777240" y="3465576"/>
            <a:ext cx="1005840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15F83"/>
                </a:solidFill>
              </a:rPr>
              <a:t>Implementation: Random Forest Classifier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777240" y="4005072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253544"/>
                </a:solidFill>
              </a:rPr>
              <a:t>Dataset: DrivenData Richter’s Predictor • 2015 Nepal earthquake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777240" y="51663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26579"/>
                </a:solidFill>
              </a:rPr>
              <a:t>Presented by: ____________________     Team member: ____________________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315F83"/>
          </a:solidFill>
          <a:ln w="12700">
            <a:solidFill>
              <a:srgbClr val="315F8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21792" y="301752"/>
            <a:ext cx="10881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315F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INTRODUCTION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21792" y="667512"/>
            <a:ext cx="10972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8324A"/>
                </a:solidFill>
              </a:rPr>
              <a:t>Problem Statement &amp; Objective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621792" y="1353312"/>
            <a:ext cx="10927080" cy="0"/>
          </a:xfrm>
          <a:prstGeom prst="line">
            <a:avLst/>
          </a:prstGeom>
          <a:noFill/>
          <a:ln w="12700">
            <a:solidFill>
              <a:srgbClr val="D9E2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21792" y="6528816"/>
            <a:ext cx="10515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26579"/>
                </a:solidFill>
              </a:rPr>
              <a:t>Machine Learning Mini-Project  •  Nepal Earthquake Damage Prediction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192256" y="6510528"/>
            <a:ext cx="320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6579"/>
                </a:solidFill>
              </a:rPr>
              <a:t>2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822960" y="1847088"/>
            <a:ext cx="105156" cy="105156"/>
          </a:xfrm>
          <a:prstGeom prst="ellipse">
            <a:avLst/>
          </a:prstGeom>
          <a:solidFill>
            <a:srgbClr val="315F83"/>
          </a:solidFill>
          <a:ln w="12700">
            <a:solidFill>
              <a:srgbClr val="315F8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133856" y="1755648"/>
            <a:ext cx="1029614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53544"/>
                </a:solidFill>
              </a:rPr>
              <a:t>Earthquake-related structural damage varies between buildings.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822960" y="2697480"/>
            <a:ext cx="105156" cy="105156"/>
          </a:xfrm>
          <a:prstGeom prst="ellipse">
            <a:avLst/>
          </a:prstGeom>
          <a:solidFill>
            <a:srgbClr val="315F83"/>
          </a:solidFill>
          <a:ln w="12700">
            <a:solidFill>
              <a:srgbClr val="315F8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33856" y="2606040"/>
            <a:ext cx="1029614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53544"/>
                </a:solidFill>
              </a:rPr>
              <a:t>Manual assessment across large areas is time-consuming.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822960" y="3547872"/>
            <a:ext cx="105156" cy="105156"/>
          </a:xfrm>
          <a:prstGeom prst="ellipse">
            <a:avLst/>
          </a:prstGeom>
          <a:solidFill>
            <a:srgbClr val="315F83"/>
          </a:solidFill>
          <a:ln w="12700">
            <a:solidFill>
              <a:srgbClr val="315F8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133856" y="3456432"/>
            <a:ext cx="1029614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53544"/>
                </a:solidFill>
              </a:rPr>
              <a:t>Predict one of three damage grades from building characteristics.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822960" y="4398264"/>
            <a:ext cx="105156" cy="105156"/>
          </a:xfrm>
          <a:prstGeom prst="ellipse">
            <a:avLst/>
          </a:prstGeom>
          <a:solidFill>
            <a:srgbClr val="315F83"/>
          </a:solidFill>
          <a:ln w="12700">
            <a:solidFill>
              <a:srgbClr val="315F8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33856" y="4306824"/>
            <a:ext cx="1029614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53544"/>
                </a:solidFill>
              </a:rPr>
              <a:t>Support preliminary damage assessment and reconstruction planning.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822960" y="5440680"/>
            <a:ext cx="10515600" cy="594360"/>
          </a:xfrm>
          <a:prstGeom prst="roundRect">
            <a:avLst>
              <a:gd name="adj" fmla="val 15385"/>
            </a:avLst>
          </a:prstGeom>
          <a:solidFill>
            <a:srgbClr val="F8FAFC"/>
          </a:solidFill>
          <a:ln w="12700">
            <a:solidFill>
              <a:srgbClr val="D9E2E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051560" y="5623560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15F83"/>
                </a:solidFill>
              </a:rPr>
              <a:t>Scope: damage classification from survey data — not earthquake forecasting.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315F83"/>
          </a:solidFill>
          <a:ln w="12700">
            <a:solidFill>
              <a:srgbClr val="315F8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21792" y="301752"/>
            <a:ext cx="10881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315F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DATA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21792" y="667512"/>
            <a:ext cx="10972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8324A"/>
                </a:solidFill>
              </a:rPr>
              <a:t>Dataset and Target Classes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621792" y="1353312"/>
            <a:ext cx="10927080" cy="0"/>
          </a:xfrm>
          <a:prstGeom prst="line">
            <a:avLst/>
          </a:prstGeom>
          <a:noFill/>
          <a:ln w="12700">
            <a:solidFill>
              <a:srgbClr val="D9E2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21792" y="6528816"/>
            <a:ext cx="10515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26579"/>
                </a:solidFill>
              </a:rPr>
              <a:t>Machine Learning Mini-Project  •  Nepal Earthquake Damage Prediction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192256" y="6510528"/>
            <a:ext cx="320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6579"/>
                </a:solidFill>
              </a:rPr>
              <a:t>3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777240" y="1737360"/>
            <a:ext cx="5166360" cy="1170432"/>
          </a:xfrm>
          <a:prstGeom prst="roundRect">
            <a:avLst>
              <a:gd name="adj" fmla="val 7813"/>
            </a:avLst>
          </a:prstGeom>
          <a:solidFill>
            <a:srgbClr val="F8FAFC"/>
          </a:solidFill>
          <a:ln w="12700">
            <a:solidFill>
              <a:srgbClr val="D9E2E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14984" y="1883664"/>
            <a:ext cx="4572000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8324A"/>
                </a:solidFill>
              </a:rPr>
              <a:t>260,601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1014984" y="2487168"/>
            <a:ext cx="45720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26579"/>
                </a:solidFill>
              </a:rPr>
              <a:t>Labeled buildings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355080" y="1737360"/>
            <a:ext cx="5166360" cy="1170432"/>
          </a:xfrm>
          <a:prstGeom prst="roundRect">
            <a:avLst>
              <a:gd name="adj" fmla="val 7813"/>
            </a:avLst>
          </a:prstGeom>
          <a:solidFill>
            <a:srgbClr val="F8FAFC"/>
          </a:solidFill>
          <a:ln w="12700">
            <a:solidFill>
              <a:srgbClr val="D9E2E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592824" y="1883664"/>
            <a:ext cx="4572000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8324A"/>
                </a:solidFill>
              </a:rPr>
              <a:t>38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6592824" y="2487168"/>
            <a:ext cx="45720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26579"/>
                </a:solidFill>
              </a:rPr>
              <a:t>Input features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777240" y="3154680"/>
            <a:ext cx="5166360" cy="1170432"/>
          </a:xfrm>
          <a:prstGeom prst="roundRect">
            <a:avLst>
              <a:gd name="adj" fmla="val 7813"/>
            </a:avLst>
          </a:prstGeom>
          <a:solidFill>
            <a:srgbClr val="F8FAFC"/>
          </a:solidFill>
          <a:ln w="12700">
            <a:solidFill>
              <a:srgbClr val="D9E2E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014984" y="3300984"/>
            <a:ext cx="4572000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8324A"/>
                </a:solidFill>
              </a:rPr>
              <a:t>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1014984" y="3904488"/>
            <a:ext cx="45720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26579"/>
                </a:solidFill>
              </a:rPr>
              <a:t>Damage grades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6355080" y="3154680"/>
            <a:ext cx="5166360" cy="1170432"/>
          </a:xfrm>
          <a:prstGeom prst="roundRect">
            <a:avLst>
              <a:gd name="adj" fmla="val 7813"/>
            </a:avLst>
          </a:prstGeom>
          <a:solidFill>
            <a:srgbClr val="F8FAFC"/>
          </a:solidFill>
          <a:ln w="12700">
            <a:solidFill>
              <a:srgbClr val="D9E2E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592824" y="3300984"/>
            <a:ext cx="4572000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8324A"/>
                </a:solidFill>
              </a:rPr>
              <a:t>0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6592824" y="3904488"/>
            <a:ext cx="45720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26579"/>
                </a:solidFill>
              </a:rPr>
              <a:t>Missing values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822960" y="4901184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15F83"/>
                </a:solidFill>
              </a:rPr>
              <a:t>Grade 1: Low damage     •     Grade 2: Moderate damage     •     Grade 3: Severe damage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822960" y="5632704"/>
            <a:ext cx="10698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579"/>
                </a:solidFill>
              </a:rPr>
              <a:t>Source: DrivenData Richter’s Predictor; train_values.csv + train_labels.csv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315F83"/>
          </a:solidFill>
          <a:ln w="12700">
            <a:solidFill>
              <a:srgbClr val="315F8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21792" y="301752"/>
            <a:ext cx="10881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315F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METHODOLOGY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21792" y="667512"/>
            <a:ext cx="10972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8324A"/>
                </a:solidFill>
              </a:rPr>
              <a:t>Preprocessing and Model Workflow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621792" y="1353312"/>
            <a:ext cx="10927080" cy="0"/>
          </a:xfrm>
          <a:prstGeom prst="line">
            <a:avLst/>
          </a:prstGeom>
          <a:noFill/>
          <a:ln w="12700">
            <a:solidFill>
              <a:srgbClr val="D9E2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21792" y="6528816"/>
            <a:ext cx="10515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26579"/>
                </a:solidFill>
              </a:rPr>
              <a:t>Machine Learning Mini-Project  •  Nepal Earthquake Damage Prediction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192256" y="6510528"/>
            <a:ext cx="320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6579"/>
                </a:solidFill>
              </a:rPr>
              <a:t>4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804672" y="1636776"/>
            <a:ext cx="10570464" cy="676656"/>
          </a:xfrm>
          <a:prstGeom prst="roundRect">
            <a:avLst>
              <a:gd name="adj" fmla="val 13514"/>
            </a:avLst>
          </a:prstGeom>
          <a:solidFill>
            <a:srgbClr val="F8FAFC"/>
          </a:solidFill>
          <a:ln w="12700">
            <a:solidFill>
              <a:srgbClr val="D9E2E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87552" y="1783080"/>
            <a:ext cx="393192" cy="393192"/>
          </a:xfrm>
          <a:prstGeom prst="ellipse">
            <a:avLst/>
          </a:prstGeom>
          <a:solidFill>
            <a:srgbClr val="315F83"/>
          </a:solidFill>
          <a:ln w="12700">
            <a:solidFill>
              <a:srgbClr val="315F8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87552" y="1847088"/>
            <a:ext cx="3931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1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600200" y="1783080"/>
            <a:ext cx="22311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8324A"/>
                </a:solidFill>
              </a:rPr>
              <a:t>Load &amp; merge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3776472" y="1810512"/>
            <a:ext cx="7178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53544"/>
                </a:solidFill>
              </a:rPr>
              <a:t>Join CSV files using building_id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804672" y="2459736"/>
            <a:ext cx="10570464" cy="676656"/>
          </a:xfrm>
          <a:prstGeom prst="roundRect">
            <a:avLst>
              <a:gd name="adj" fmla="val 13514"/>
            </a:avLst>
          </a:prstGeom>
          <a:solidFill>
            <a:srgbClr val="F8FAFC"/>
          </a:solidFill>
          <a:ln w="12700">
            <a:solidFill>
              <a:srgbClr val="D9E2EA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87552" y="2606040"/>
            <a:ext cx="393192" cy="393192"/>
          </a:xfrm>
          <a:prstGeom prst="ellipse">
            <a:avLst/>
          </a:prstGeom>
          <a:solidFill>
            <a:srgbClr val="315F83"/>
          </a:solidFill>
          <a:ln w="12700">
            <a:solidFill>
              <a:srgbClr val="315F8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87552" y="2670048"/>
            <a:ext cx="3931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2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1600200" y="2606040"/>
            <a:ext cx="22311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8324A"/>
                </a:solidFill>
              </a:rPr>
              <a:t>Prepare data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3776472" y="2633472"/>
            <a:ext cx="7178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53544"/>
                </a:solidFill>
              </a:rPr>
              <a:t>Remove ID/label from inputs; one-hot encode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804672" y="3282696"/>
            <a:ext cx="10570464" cy="676656"/>
          </a:xfrm>
          <a:prstGeom prst="roundRect">
            <a:avLst>
              <a:gd name="adj" fmla="val 13514"/>
            </a:avLst>
          </a:prstGeom>
          <a:solidFill>
            <a:srgbClr val="F8FAFC"/>
          </a:solidFill>
          <a:ln w="12700">
            <a:solidFill>
              <a:srgbClr val="D9E2EA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87552" y="3429000"/>
            <a:ext cx="393192" cy="393192"/>
          </a:xfrm>
          <a:prstGeom prst="ellipse">
            <a:avLst/>
          </a:prstGeom>
          <a:solidFill>
            <a:srgbClr val="315F83"/>
          </a:solidFill>
          <a:ln w="12700">
            <a:solidFill>
              <a:srgbClr val="315F8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87552" y="3493008"/>
            <a:ext cx="3931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3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1600200" y="3429000"/>
            <a:ext cx="22311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8324A"/>
                </a:solidFill>
              </a:rPr>
              <a:t>Split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3776472" y="3456432"/>
            <a:ext cx="7178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53544"/>
                </a:solidFill>
              </a:rPr>
              <a:t>80% training / 20% testing; stratified</a:t>
            </a:r>
            <a:endParaRPr lang="en-US" sz="1500" dirty="0"/>
          </a:p>
        </p:txBody>
      </p:sp>
      <p:sp>
        <p:nvSpPr>
          <p:cNvPr id="23" name="Shape 21"/>
          <p:cNvSpPr/>
          <p:nvPr/>
        </p:nvSpPr>
        <p:spPr>
          <a:xfrm>
            <a:off x="804672" y="4105656"/>
            <a:ext cx="10570464" cy="676656"/>
          </a:xfrm>
          <a:prstGeom prst="roundRect">
            <a:avLst>
              <a:gd name="adj" fmla="val 13514"/>
            </a:avLst>
          </a:prstGeom>
          <a:solidFill>
            <a:srgbClr val="F8FAFC"/>
          </a:solidFill>
          <a:ln w="12700">
            <a:solidFill>
              <a:srgbClr val="D9E2EA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987552" y="4251960"/>
            <a:ext cx="393192" cy="393192"/>
          </a:xfrm>
          <a:prstGeom prst="ellipse">
            <a:avLst/>
          </a:prstGeom>
          <a:solidFill>
            <a:srgbClr val="315F83"/>
          </a:solidFill>
          <a:ln w="12700">
            <a:solidFill>
              <a:srgbClr val="315F83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87552" y="4315968"/>
            <a:ext cx="3931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4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1600200" y="4251960"/>
            <a:ext cx="22311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8324A"/>
                </a:solidFill>
              </a:rPr>
              <a:t>Train</a:t>
            </a:r>
            <a:endParaRPr lang="en-US" sz="1700" dirty="0"/>
          </a:p>
        </p:txBody>
      </p:sp>
      <p:sp>
        <p:nvSpPr>
          <p:cNvPr id="27" name="Text 25"/>
          <p:cNvSpPr/>
          <p:nvPr/>
        </p:nvSpPr>
        <p:spPr>
          <a:xfrm>
            <a:off x="3776472" y="4279392"/>
            <a:ext cx="7178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53544"/>
                </a:solidFill>
              </a:rPr>
              <a:t>Random Forest with 100 decision trees</a:t>
            </a:r>
            <a:endParaRPr lang="en-US" sz="1500" dirty="0"/>
          </a:p>
        </p:txBody>
      </p:sp>
      <p:sp>
        <p:nvSpPr>
          <p:cNvPr id="28" name="Shape 26"/>
          <p:cNvSpPr/>
          <p:nvPr/>
        </p:nvSpPr>
        <p:spPr>
          <a:xfrm>
            <a:off x="804672" y="4928616"/>
            <a:ext cx="10570464" cy="676656"/>
          </a:xfrm>
          <a:prstGeom prst="roundRect">
            <a:avLst>
              <a:gd name="adj" fmla="val 13514"/>
            </a:avLst>
          </a:prstGeom>
          <a:solidFill>
            <a:srgbClr val="F8FAFC"/>
          </a:solidFill>
          <a:ln w="12700">
            <a:solidFill>
              <a:srgbClr val="D9E2EA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987552" y="5074920"/>
            <a:ext cx="393192" cy="393192"/>
          </a:xfrm>
          <a:prstGeom prst="ellipse">
            <a:avLst/>
          </a:prstGeom>
          <a:solidFill>
            <a:srgbClr val="315F83"/>
          </a:solidFill>
          <a:ln w="12700">
            <a:solidFill>
              <a:srgbClr val="315F83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87552" y="5138928"/>
            <a:ext cx="3931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5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1600200" y="5074920"/>
            <a:ext cx="22311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8324A"/>
                </a:solidFill>
              </a:rPr>
              <a:t>Evaluate</a:t>
            </a:r>
            <a:endParaRPr lang="en-US" sz="1700" dirty="0"/>
          </a:p>
        </p:txBody>
      </p:sp>
      <p:sp>
        <p:nvSpPr>
          <p:cNvPr id="32" name="Text 30"/>
          <p:cNvSpPr/>
          <p:nvPr/>
        </p:nvSpPr>
        <p:spPr>
          <a:xfrm>
            <a:off x="3776472" y="5102352"/>
            <a:ext cx="7178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53544"/>
                </a:solidFill>
              </a:rPr>
              <a:t>Accuracy, F1, confusion matrix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315F83"/>
          </a:solidFill>
          <a:ln w="12700">
            <a:solidFill>
              <a:srgbClr val="315F8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21792" y="301752"/>
            <a:ext cx="10881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315F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ALGORITHM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21792" y="667512"/>
            <a:ext cx="10972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8324A"/>
                </a:solidFill>
              </a:rPr>
              <a:t>Why Random Forest?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621792" y="1353312"/>
            <a:ext cx="10927080" cy="0"/>
          </a:xfrm>
          <a:prstGeom prst="line">
            <a:avLst/>
          </a:prstGeom>
          <a:noFill/>
          <a:ln w="12700">
            <a:solidFill>
              <a:srgbClr val="D9E2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21792" y="6528816"/>
            <a:ext cx="10515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26579"/>
                </a:solidFill>
              </a:rPr>
              <a:t>Machine Learning Mini-Project  •  Nepal Earthquake Damage Prediction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192256" y="6510528"/>
            <a:ext cx="320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6579"/>
                </a:solidFill>
              </a:rPr>
              <a:t>5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841248" y="1783080"/>
            <a:ext cx="105156" cy="105156"/>
          </a:xfrm>
          <a:prstGeom prst="ellipse">
            <a:avLst/>
          </a:prstGeom>
          <a:solidFill>
            <a:srgbClr val="315F83"/>
          </a:solidFill>
          <a:ln w="12700">
            <a:solidFill>
              <a:srgbClr val="315F8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152144" y="1691640"/>
            <a:ext cx="1029614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253544"/>
                </a:solidFill>
              </a:rPr>
              <a:t>A supervised classification algorithm made up of decision trees.</a:t>
            </a:r>
            <a:endParaRPr lang="en-US" sz="1900" dirty="0"/>
          </a:p>
        </p:txBody>
      </p:sp>
      <p:sp>
        <p:nvSpPr>
          <p:cNvPr id="10" name="Shape 8"/>
          <p:cNvSpPr/>
          <p:nvPr/>
        </p:nvSpPr>
        <p:spPr>
          <a:xfrm>
            <a:off x="841248" y="2615184"/>
            <a:ext cx="105156" cy="105156"/>
          </a:xfrm>
          <a:prstGeom prst="ellipse">
            <a:avLst/>
          </a:prstGeom>
          <a:solidFill>
            <a:srgbClr val="315F83"/>
          </a:solidFill>
          <a:ln w="12700">
            <a:solidFill>
              <a:srgbClr val="315F8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52144" y="2523744"/>
            <a:ext cx="1029614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253544"/>
                </a:solidFill>
              </a:rPr>
              <a:t>Each tree votes for a damage grade; the forest selects the most-voted grade.</a:t>
            </a:r>
            <a:endParaRPr lang="en-US" sz="1900" dirty="0"/>
          </a:p>
        </p:txBody>
      </p:sp>
      <p:sp>
        <p:nvSpPr>
          <p:cNvPr id="12" name="Shape 10"/>
          <p:cNvSpPr/>
          <p:nvPr/>
        </p:nvSpPr>
        <p:spPr>
          <a:xfrm>
            <a:off x="841248" y="3447288"/>
            <a:ext cx="105156" cy="105156"/>
          </a:xfrm>
          <a:prstGeom prst="ellipse">
            <a:avLst/>
          </a:prstGeom>
          <a:solidFill>
            <a:srgbClr val="315F83"/>
          </a:solidFill>
          <a:ln w="12700">
            <a:solidFill>
              <a:srgbClr val="315F8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152144" y="3355848"/>
            <a:ext cx="1029614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253544"/>
                </a:solidFill>
              </a:rPr>
              <a:t>Works well with mixed numerical and encoded categorical inputs.</a:t>
            </a:r>
            <a:endParaRPr lang="en-US" sz="1900" dirty="0"/>
          </a:p>
        </p:txBody>
      </p:sp>
      <p:sp>
        <p:nvSpPr>
          <p:cNvPr id="14" name="Shape 12"/>
          <p:cNvSpPr/>
          <p:nvPr/>
        </p:nvSpPr>
        <p:spPr>
          <a:xfrm>
            <a:off x="841248" y="4279392"/>
            <a:ext cx="105156" cy="105156"/>
          </a:xfrm>
          <a:prstGeom prst="ellipse">
            <a:avLst/>
          </a:prstGeom>
          <a:solidFill>
            <a:srgbClr val="315F83"/>
          </a:solidFill>
          <a:ln w="12700">
            <a:solidFill>
              <a:srgbClr val="315F8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52144" y="4187952"/>
            <a:ext cx="1029614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253544"/>
                </a:solidFill>
              </a:rPr>
              <a:t>Model setting: n_estimators = 100; random_state = 42.</a:t>
            </a:r>
            <a:endParaRPr lang="en-US" sz="1900" dirty="0"/>
          </a:p>
        </p:txBody>
      </p:sp>
      <p:sp>
        <p:nvSpPr>
          <p:cNvPr id="16" name="Shape 14"/>
          <p:cNvSpPr/>
          <p:nvPr/>
        </p:nvSpPr>
        <p:spPr>
          <a:xfrm>
            <a:off x="822960" y="5367528"/>
            <a:ext cx="10607040" cy="694944"/>
          </a:xfrm>
          <a:prstGeom prst="roundRect">
            <a:avLst>
              <a:gd name="adj" fmla="val 13158"/>
            </a:avLst>
          </a:prstGeom>
          <a:solidFill>
            <a:srgbClr val="F8FAFC"/>
          </a:solidFill>
          <a:ln w="12700">
            <a:solidFill>
              <a:srgbClr val="D9E2E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069848" y="5559552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15F83"/>
                </a:solidFill>
              </a:rPr>
              <a:t>We use only one ML algorithm in this implementation.</a:t>
            </a:r>
            <a:endParaRPr lang="en-US" sz="1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315F83"/>
          </a:solidFill>
          <a:ln w="12700">
            <a:solidFill>
              <a:srgbClr val="315F8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21792" y="301752"/>
            <a:ext cx="10881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315F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EVALUATION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21792" y="667512"/>
            <a:ext cx="10972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8324A"/>
                </a:solidFill>
              </a:rPr>
              <a:t>Test Results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621792" y="1353312"/>
            <a:ext cx="10927080" cy="0"/>
          </a:xfrm>
          <a:prstGeom prst="line">
            <a:avLst/>
          </a:prstGeom>
          <a:noFill/>
          <a:ln w="12700">
            <a:solidFill>
              <a:srgbClr val="D9E2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21792" y="6528816"/>
            <a:ext cx="10515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26579"/>
                </a:solidFill>
              </a:rPr>
              <a:t>Machine Learning Mini-Project  •  Nepal Earthquake Damage Prediction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192256" y="6510528"/>
            <a:ext cx="320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6579"/>
                </a:solidFill>
              </a:rPr>
              <a:t>6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822960" y="1728216"/>
            <a:ext cx="5212080" cy="1280160"/>
          </a:xfrm>
          <a:prstGeom prst="roundRect">
            <a:avLst>
              <a:gd name="adj" fmla="val 7143"/>
            </a:avLst>
          </a:prstGeom>
          <a:solidFill>
            <a:srgbClr val="F8FAFC"/>
          </a:solidFill>
          <a:ln w="12700">
            <a:solidFill>
              <a:srgbClr val="D9E2E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78992" y="1947672"/>
            <a:ext cx="457200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47A5B"/>
                </a:solidFill>
              </a:rPr>
              <a:t>71.60%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1078992" y="255117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26579"/>
                </a:solidFill>
              </a:rPr>
              <a:t>Accuracy / Micro F1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419088" y="1728216"/>
            <a:ext cx="5212080" cy="1280160"/>
          </a:xfrm>
          <a:prstGeom prst="roundRect">
            <a:avLst>
              <a:gd name="adj" fmla="val 7143"/>
            </a:avLst>
          </a:prstGeom>
          <a:solidFill>
            <a:srgbClr val="F8FAFC"/>
          </a:solidFill>
          <a:ln w="12700">
            <a:solidFill>
              <a:srgbClr val="D9E2E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675120" y="1947672"/>
            <a:ext cx="457200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8324A"/>
                </a:solidFill>
              </a:rPr>
              <a:t>0.66</a:t>
            </a:r>
            <a:endParaRPr lang="en-US" sz="3000" dirty="0"/>
          </a:p>
        </p:txBody>
      </p:sp>
      <p:sp>
        <p:nvSpPr>
          <p:cNvPr id="13" name="Text 11"/>
          <p:cNvSpPr/>
          <p:nvPr/>
        </p:nvSpPr>
        <p:spPr>
          <a:xfrm>
            <a:off x="6675120" y="255117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26579"/>
                </a:solidFill>
              </a:rPr>
              <a:t>Macro F1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822960" y="3264408"/>
            <a:ext cx="5212080" cy="1280160"/>
          </a:xfrm>
          <a:prstGeom prst="roundRect">
            <a:avLst>
              <a:gd name="adj" fmla="val 7143"/>
            </a:avLst>
          </a:prstGeom>
          <a:solidFill>
            <a:srgbClr val="F8FAFC"/>
          </a:solidFill>
          <a:ln w="12700">
            <a:solidFill>
              <a:srgbClr val="D9E2E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078992" y="3483864"/>
            <a:ext cx="457200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8324A"/>
                </a:solidFill>
              </a:rPr>
              <a:t>52,121</a:t>
            </a:r>
            <a:endParaRPr lang="en-US" sz="3000" dirty="0"/>
          </a:p>
        </p:txBody>
      </p:sp>
      <p:sp>
        <p:nvSpPr>
          <p:cNvPr id="16" name="Text 14"/>
          <p:cNvSpPr/>
          <p:nvPr/>
        </p:nvSpPr>
        <p:spPr>
          <a:xfrm>
            <a:off x="1078992" y="408736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26579"/>
                </a:solidFill>
              </a:rPr>
              <a:t>Test buildings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6419088" y="3264408"/>
            <a:ext cx="5212080" cy="1280160"/>
          </a:xfrm>
          <a:prstGeom prst="roundRect">
            <a:avLst>
              <a:gd name="adj" fmla="val 7143"/>
            </a:avLst>
          </a:prstGeom>
          <a:solidFill>
            <a:srgbClr val="F8FAFC"/>
          </a:solidFill>
          <a:ln w="12700">
            <a:solidFill>
              <a:srgbClr val="D9E2E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675120" y="3483864"/>
            <a:ext cx="457200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8324A"/>
                </a:solidFill>
              </a:rPr>
              <a:t>37,321</a:t>
            </a:r>
            <a:endParaRPr lang="en-US" sz="3000" dirty="0"/>
          </a:p>
        </p:txBody>
      </p:sp>
      <p:sp>
        <p:nvSpPr>
          <p:cNvPr id="19" name="Text 17"/>
          <p:cNvSpPr/>
          <p:nvPr/>
        </p:nvSpPr>
        <p:spPr>
          <a:xfrm>
            <a:off x="6675120" y="408736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26579"/>
                </a:solidFill>
              </a:rPr>
              <a:t>Correct predictions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868680" y="5056632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15F83"/>
                </a:solidFill>
              </a:rPr>
              <a:t>Per-class F1 scores: Grade 1 = 0.55  •  Grade 2 = 0.77  •  Grade 3 = 0.65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868680" y="5733288"/>
            <a:ext cx="1046988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26579"/>
                </a:solidFill>
              </a:rPr>
              <a:t>Observed in the project’s held-out 20% split; not directly comparable to the paper’s separate test score.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315F83"/>
          </a:solidFill>
          <a:ln w="12700">
            <a:solidFill>
              <a:srgbClr val="315F8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21792" y="301752"/>
            <a:ext cx="10881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315F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EVALUATION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21792" y="667512"/>
            <a:ext cx="10972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8324A"/>
                </a:solidFill>
              </a:rPr>
              <a:t>Model Errors: Confusion Matrix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621792" y="1353312"/>
            <a:ext cx="10927080" cy="0"/>
          </a:xfrm>
          <a:prstGeom prst="line">
            <a:avLst/>
          </a:prstGeom>
          <a:noFill/>
          <a:ln w="12700">
            <a:solidFill>
              <a:srgbClr val="D9E2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21792" y="6528816"/>
            <a:ext cx="10515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26579"/>
                </a:solidFill>
              </a:rPr>
              <a:t>Machine Learning Mini-Project  •  Nepal Earthquake Damage Prediction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192256" y="6510528"/>
            <a:ext cx="320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6579"/>
                </a:solidFill>
              </a:rPr>
              <a:t>7</a:t>
            </a:r>
            <a:endParaRPr lang="en-US" sz="900" dirty="0"/>
          </a:p>
        </p:txBody>
      </p:sp>
      <p:pic>
        <p:nvPicPr>
          <p:cNvPr id="8" name="Image 0" descr="/mnt/data/_confusion_repor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5528" y="1554480"/>
            <a:ext cx="6766560" cy="4498848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7735824" y="1883664"/>
            <a:ext cx="3547872" cy="3337560"/>
          </a:xfrm>
          <a:prstGeom prst="roundRect">
            <a:avLst>
              <a:gd name="adj" fmla="val 2740"/>
            </a:avLst>
          </a:prstGeom>
          <a:solidFill>
            <a:srgbClr val="F8FAFC"/>
          </a:solidFill>
          <a:ln w="12700">
            <a:solidFill>
              <a:srgbClr val="D9E2E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001000" y="2167128"/>
            <a:ext cx="3017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8324A"/>
                </a:solidFill>
              </a:rPr>
              <a:t>Main finding</a:t>
            </a:r>
            <a:endParaRPr lang="en-US" sz="1900" dirty="0"/>
          </a:p>
        </p:txBody>
      </p:sp>
      <p:sp>
        <p:nvSpPr>
          <p:cNvPr id="11" name="Text 8"/>
          <p:cNvSpPr/>
          <p:nvPr/>
        </p:nvSpPr>
        <p:spPr>
          <a:xfrm>
            <a:off x="8001000" y="2770632"/>
            <a:ext cx="291693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253544"/>
                </a:solidFill>
              </a:rPr>
              <a:t>The model identifies moderate damage most reliably.</a:t>
            </a:r>
            <a:endParaRPr lang="en-US" sz="1700" dirty="0"/>
          </a:p>
        </p:txBody>
      </p:sp>
      <p:sp>
        <p:nvSpPr>
          <p:cNvPr id="12" name="Text 9"/>
          <p:cNvSpPr/>
          <p:nvPr/>
        </p:nvSpPr>
        <p:spPr>
          <a:xfrm>
            <a:off x="8001000" y="3849624"/>
            <a:ext cx="2907792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15F83"/>
                </a:solidFill>
              </a:rPr>
              <a:t>6,825 severely damaged buildings were classified as moderate.</a:t>
            </a:r>
            <a:endParaRPr lang="en-US" sz="17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315F83"/>
          </a:solidFill>
          <a:ln w="12700">
            <a:solidFill>
              <a:srgbClr val="315F8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21792" y="301752"/>
            <a:ext cx="10881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315F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FEATURE IMPORTANCE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21792" y="667512"/>
            <a:ext cx="10972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8324A"/>
                </a:solidFill>
              </a:rPr>
              <a:t>Which Inputs Matter Most?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621792" y="1353312"/>
            <a:ext cx="10927080" cy="0"/>
          </a:xfrm>
          <a:prstGeom prst="line">
            <a:avLst/>
          </a:prstGeom>
          <a:noFill/>
          <a:ln w="12700">
            <a:solidFill>
              <a:srgbClr val="D9E2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21792" y="6528816"/>
            <a:ext cx="10515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26579"/>
                </a:solidFill>
              </a:rPr>
              <a:t>Machine Learning Mini-Project  •  Nepal Earthquake Damage Prediction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192256" y="6510528"/>
            <a:ext cx="320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6579"/>
                </a:solidFill>
              </a:rPr>
              <a:t>8</a:t>
            </a:r>
            <a:endParaRPr lang="en-US" sz="900" dirty="0"/>
          </a:p>
        </p:txBody>
      </p:sp>
      <p:pic>
        <p:nvPicPr>
          <p:cNvPr id="8" name="Image 0" descr="/mnt/data/image(8)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1581912"/>
            <a:ext cx="7644384" cy="4517136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8412480" y="1892808"/>
            <a:ext cx="2862072" cy="3566160"/>
          </a:xfrm>
          <a:prstGeom prst="roundRect">
            <a:avLst>
              <a:gd name="adj" fmla="val 3195"/>
            </a:avLst>
          </a:prstGeom>
          <a:solidFill>
            <a:srgbClr val="F8FAFC"/>
          </a:solidFill>
          <a:ln w="12700">
            <a:solidFill>
              <a:srgbClr val="D9E2E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668512" y="2139696"/>
            <a:ext cx="23500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8324A"/>
                </a:solidFill>
              </a:rPr>
              <a:t>Notable features</a:t>
            </a:r>
            <a:endParaRPr lang="en-US" sz="1800" dirty="0"/>
          </a:p>
        </p:txBody>
      </p:sp>
      <p:sp>
        <p:nvSpPr>
          <p:cNvPr id="11" name="Text 8"/>
          <p:cNvSpPr/>
          <p:nvPr/>
        </p:nvSpPr>
        <p:spPr>
          <a:xfrm>
            <a:off x="8668512" y="2715768"/>
            <a:ext cx="2304288" cy="2212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253544"/>
                </a:solidFill>
              </a:rPr>
              <a:t>Location codes</a:t>
            </a:r>
            <a:endParaRPr lang="en-US" sz="1700" dirty="0"/>
          </a:p>
          <a:p>
            <a:pPr indent="0" marL="0">
              <a:buNone/>
            </a:pP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253544"/>
                </a:solidFill>
              </a:rPr>
              <a:t>Building age</a:t>
            </a:r>
            <a:endParaRPr lang="en-US" sz="1700" dirty="0"/>
          </a:p>
          <a:p>
            <a:pPr indent="0" marL="0">
              <a:buNone/>
            </a:pP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253544"/>
                </a:solidFill>
              </a:rPr>
              <a:t>Area and height</a:t>
            </a:r>
            <a:endParaRPr lang="en-US" sz="1700" dirty="0"/>
          </a:p>
          <a:p>
            <a:pPr indent="0" marL="0">
              <a:buNone/>
            </a:pP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253544"/>
                </a:solidFill>
              </a:rPr>
              <a:t>Construction factors</a:t>
            </a:r>
            <a:endParaRPr lang="en-US" sz="1700" dirty="0"/>
          </a:p>
        </p:txBody>
      </p:sp>
      <p:sp>
        <p:nvSpPr>
          <p:cNvPr id="12" name="Text 9"/>
          <p:cNvSpPr/>
          <p:nvPr/>
        </p:nvSpPr>
        <p:spPr>
          <a:xfrm>
            <a:off x="8439912" y="5797296"/>
            <a:ext cx="28072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6579"/>
                </a:solidFill>
              </a:rPr>
              <a:t>Importance is predictive, not causal.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315F83"/>
          </a:solidFill>
          <a:ln w="12700">
            <a:solidFill>
              <a:srgbClr val="315F8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21792" y="301752"/>
            <a:ext cx="10881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315F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DEMONSTRATION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21792" y="667512"/>
            <a:ext cx="10972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8324A"/>
                </a:solidFill>
              </a:rPr>
              <a:t>Sample Prediction &amp; Limitations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621792" y="1353312"/>
            <a:ext cx="10927080" cy="0"/>
          </a:xfrm>
          <a:prstGeom prst="line">
            <a:avLst/>
          </a:prstGeom>
          <a:noFill/>
          <a:ln w="12700">
            <a:solidFill>
              <a:srgbClr val="D9E2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21792" y="6528816"/>
            <a:ext cx="10515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26579"/>
                </a:solidFill>
              </a:rPr>
              <a:t>Machine Learning Mini-Project  •  Nepal Earthquake Damage Prediction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192256" y="6510528"/>
            <a:ext cx="320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6579"/>
                </a:solidFill>
              </a:rPr>
              <a:t>9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786384" y="1691640"/>
            <a:ext cx="5504688" cy="4251960"/>
          </a:xfrm>
          <a:prstGeom prst="roundRect">
            <a:avLst>
              <a:gd name="adj" fmla="val 2151"/>
            </a:avLst>
          </a:prstGeom>
          <a:solidFill>
            <a:srgbClr val="F8FAFC"/>
          </a:solidFill>
          <a:ln w="12700">
            <a:solidFill>
              <a:srgbClr val="D9E2E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51560" y="1984248"/>
            <a:ext cx="49194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8324A"/>
                </a:solidFill>
              </a:rPr>
              <a:t>Held-out test building #10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051560" y="2615184"/>
            <a:ext cx="4983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53544"/>
                </a:solidFill>
              </a:rPr>
              <a:t>Floors: 2  •  Age: 5  •  Area %: 8  •  Height %: 5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051560" y="3739896"/>
            <a:ext cx="4892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47A5B"/>
                </a:solidFill>
              </a:rPr>
              <a:t>Predicted: Severe (Grade 3)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1051560" y="4279392"/>
            <a:ext cx="4892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47A5B"/>
                </a:solidFill>
              </a:rPr>
              <a:t>Actual: Severe (Grade 3)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1051560" y="4892040"/>
            <a:ext cx="4846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26579"/>
                </a:solidFill>
              </a:rPr>
              <a:t>Estimated probability: 61.15%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6519672" y="1691640"/>
            <a:ext cx="4864608" cy="4251960"/>
          </a:xfrm>
          <a:prstGeom prst="roundRect">
            <a:avLst>
              <a:gd name="adj" fmla="val 2151"/>
            </a:avLst>
          </a:prstGeom>
          <a:solidFill>
            <a:srgbClr val="F8FAFC"/>
          </a:solidFill>
          <a:ln w="12700">
            <a:solidFill>
              <a:srgbClr val="D9E2E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803136" y="1993392"/>
            <a:ext cx="4297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8324A"/>
                </a:solidFill>
              </a:rPr>
              <a:t>Limitations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6803136" y="2816352"/>
            <a:ext cx="105156" cy="105156"/>
          </a:xfrm>
          <a:prstGeom prst="ellipse">
            <a:avLst/>
          </a:prstGeom>
          <a:solidFill>
            <a:srgbClr val="315F83"/>
          </a:solidFill>
          <a:ln w="12700">
            <a:solidFill>
              <a:srgbClr val="315F8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114032" y="2724912"/>
            <a:ext cx="384962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53544"/>
                </a:solidFill>
              </a:rPr>
              <a:t>Less reliable for low and severe damage.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6803136" y="3621024"/>
            <a:ext cx="105156" cy="105156"/>
          </a:xfrm>
          <a:prstGeom prst="ellipse">
            <a:avLst/>
          </a:prstGeom>
          <a:solidFill>
            <a:srgbClr val="315F83"/>
          </a:solidFill>
          <a:ln w="12700">
            <a:solidFill>
              <a:srgbClr val="315F8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114032" y="3529584"/>
            <a:ext cx="384962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53544"/>
                </a:solidFill>
              </a:rPr>
              <a:t>Damage labels depend on the dataset’s survey context.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6803136" y="4425696"/>
            <a:ext cx="105156" cy="105156"/>
          </a:xfrm>
          <a:prstGeom prst="ellipse">
            <a:avLst/>
          </a:prstGeom>
          <a:solidFill>
            <a:srgbClr val="315F83"/>
          </a:solidFill>
          <a:ln w="12700">
            <a:solidFill>
              <a:srgbClr val="315F8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114032" y="4334256"/>
            <a:ext cx="384962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53544"/>
                </a:solidFill>
              </a:rPr>
              <a:t>Predictions do not replace engineering inspections.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315F83"/>
          </a:solidFill>
          <a:ln w="12700">
            <a:solidFill>
              <a:srgbClr val="315F8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21792" y="301752"/>
            <a:ext cx="10881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315F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WRAP-UP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21792" y="667512"/>
            <a:ext cx="10972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8324A"/>
                </a:solidFill>
              </a:rPr>
              <a:t>Conclusion &amp; References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621792" y="1353312"/>
            <a:ext cx="10927080" cy="0"/>
          </a:xfrm>
          <a:prstGeom prst="line">
            <a:avLst/>
          </a:prstGeom>
          <a:noFill/>
          <a:ln w="12700">
            <a:solidFill>
              <a:srgbClr val="D9E2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21792" y="6528816"/>
            <a:ext cx="10515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26579"/>
                </a:solidFill>
              </a:rPr>
              <a:t>Machine Learning Mini-Project  •  Nepal Earthquake Damage Prediction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192256" y="6510528"/>
            <a:ext cx="320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6579"/>
                </a:solidFill>
              </a:rPr>
              <a:t>10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822960" y="1673352"/>
            <a:ext cx="105156" cy="105156"/>
          </a:xfrm>
          <a:prstGeom prst="ellipse">
            <a:avLst/>
          </a:prstGeom>
          <a:solidFill>
            <a:srgbClr val="315F83"/>
          </a:solidFill>
          <a:ln w="12700">
            <a:solidFill>
              <a:srgbClr val="315F8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133856" y="1581912"/>
            <a:ext cx="1029614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53544"/>
                </a:solidFill>
              </a:rPr>
              <a:t>A single Random Forest model predicts three building damage classes.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822960" y="2404872"/>
            <a:ext cx="105156" cy="105156"/>
          </a:xfrm>
          <a:prstGeom prst="ellipse">
            <a:avLst/>
          </a:prstGeom>
          <a:solidFill>
            <a:srgbClr val="315F83"/>
          </a:solidFill>
          <a:ln w="12700">
            <a:solidFill>
              <a:srgbClr val="315F8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33856" y="2313432"/>
            <a:ext cx="1029614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53544"/>
                </a:solidFill>
              </a:rPr>
              <a:t>The model achieved 71.60% held-out test accuracy.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822960" y="3136392"/>
            <a:ext cx="105156" cy="105156"/>
          </a:xfrm>
          <a:prstGeom prst="ellipse">
            <a:avLst/>
          </a:prstGeom>
          <a:solidFill>
            <a:srgbClr val="315F83"/>
          </a:solidFill>
          <a:ln w="12700">
            <a:solidFill>
              <a:srgbClr val="315F8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133856" y="3044952"/>
            <a:ext cx="1029614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53544"/>
                </a:solidFill>
              </a:rPr>
              <a:t>Location, age and structure-related inputs were influential.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822960" y="3867912"/>
            <a:ext cx="105156" cy="105156"/>
          </a:xfrm>
          <a:prstGeom prst="ellipse">
            <a:avLst/>
          </a:prstGeom>
          <a:solidFill>
            <a:srgbClr val="315F83"/>
          </a:solidFill>
          <a:ln w="12700">
            <a:solidFill>
              <a:srgbClr val="315F8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33856" y="3776472"/>
            <a:ext cx="1029614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53544"/>
                </a:solidFill>
              </a:rPr>
              <a:t>Future work could focus on improving minority-class recall.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822960" y="4681728"/>
            <a:ext cx="10515600" cy="0"/>
          </a:xfrm>
          <a:prstGeom prst="line">
            <a:avLst/>
          </a:prstGeom>
          <a:noFill/>
          <a:ln w="12700">
            <a:solidFill>
              <a:srgbClr val="D9E2E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22960" y="4956048"/>
            <a:ext cx="1005840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8324A"/>
                </a:solidFill>
              </a:rPr>
              <a:t>References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822960" y="5330952"/>
            <a:ext cx="1042416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53544"/>
                </a:solidFill>
              </a:rPr>
              <a:t>Y. Liang, “Application of Machine Learning Methods to Predict the Level of Buildings Damage in the Nepal Earthquake,” Stanford CS229, 2021.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822960" y="5870448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6579"/>
                </a:solidFill>
              </a:rPr>
              <a:t>DrivenData: Richter’s Predictor — Modeling Earthquake Damage (drivendata.org/competitions/57/nepal-earthquake/)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Nepal Earthquake Building Damage Prediction</dc:title>
  <dc:subject>Nepal Earthquake Damage Prediction</dc:subject>
  <dc:creator>ML Mini Project</dc:creator>
  <cp:lastModifiedBy>ML Mini Project</cp:lastModifiedBy>
  <cp:revision>1</cp:revision>
  <dcterms:created xsi:type="dcterms:W3CDTF">2026-10-09T18:08:42Z</dcterms:created>
  <dcterms:modified xsi:type="dcterms:W3CDTF">2026-10-09T18:08:42Z</dcterms:modified>
</cp:coreProperties>
</file>