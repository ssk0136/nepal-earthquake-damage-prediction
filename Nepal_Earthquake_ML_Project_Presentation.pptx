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01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TITLE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24A"/>
                </a:solidFill>
              </a:rPr>
              <a:t>Predicting Building Damage After the Nepal Earthquake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1092708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Machine Learning Mini-Project  •  Nepal Earthquake Damage Prediction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92256" y="6510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1673352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24A"/>
                </a:solidFill>
              </a:rPr>
              <a:t>Application of Machine Learning Methods to Predict the Level of Building Damage in the Nepal Earthquake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77240" y="3465576"/>
            <a:ext cx="10058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F83"/>
                </a:solidFill>
              </a:rPr>
              <a:t>Implementation: Random Forest Classifier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40050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53544"/>
                </a:solidFill>
              </a:rPr>
              <a:t>Dataset: DrivenData Richter’s Predictor • 2015 Nepal earthquake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501091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>
                <a:solidFill>
                  <a:srgbClr val="2B3B4E"/>
                </a:solidFill>
              </a:rPr>
              <a:t>Team Members:</a:t>
            </a:r>
          </a:p>
          <a:p>
            <a:r>
              <a:rPr sz="1800">
                <a:solidFill>
                  <a:srgbClr val="2B3B4E"/>
                </a:solidFill>
              </a:rPr>
              <a:t>Shamanth Shekar K (PES1UG24AM258)  •  Sujan S Masaguppi (PES1UG24AM292)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01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24A"/>
                </a:solidFill>
              </a:rPr>
              <a:t>Problem Statement &amp; Objective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1092708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Machine Learning Mini-Project  •  Nepal Earthquake Damage Prediction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92256" y="6510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847088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1755648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544"/>
                </a:solidFill>
              </a:rPr>
              <a:t>Earthquake-related structural damage varies between buildings.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606040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544"/>
                </a:solidFill>
              </a:rPr>
              <a:t>Manual assessment across large areas is time-consuming.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3547872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456432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544"/>
                </a:solidFill>
              </a:rPr>
              <a:t>Predict one of three damage grades from building characteristics.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4398264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4306824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544"/>
                </a:solidFill>
              </a:rPr>
              <a:t>Support preliminary damage assessment and reconstruction planning.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5440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6235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5F83"/>
                </a:solidFill>
              </a:rPr>
              <a:t>Scope: damage classification from survey data — not earthquake forecasting.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01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24A"/>
                </a:solidFill>
              </a:rPr>
              <a:t>Dataset and Target Classes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1092708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Machine Learning Mini-Project  •  Nepal Earthquake Damage Prediction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92256" y="6510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737360"/>
            <a:ext cx="5166360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883664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</a:rPr>
              <a:t>260,601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14984" y="248716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579"/>
                </a:solidFill>
              </a:rPr>
              <a:t>Labeled buildings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5166360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2824" y="1883664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</a:rPr>
              <a:t>38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92824" y="248716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579"/>
                </a:solidFill>
              </a:rPr>
              <a:t>Input features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5166360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3300984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14984" y="390448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579"/>
                </a:solidFill>
              </a:rPr>
              <a:t>Damage grades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5080" y="3154680"/>
            <a:ext cx="5166360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300984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92824" y="390448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579"/>
                </a:solidFill>
              </a:rPr>
              <a:t>Missing values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90118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5F83"/>
                </a:solidFill>
              </a:rPr>
              <a:t>Grade 1: Low damage     •     Grade 2: Moderate damage     •     Grade 3: Severe damage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563270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579"/>
                </a:solidFill>
              </a:rPr>
              <a:t>Source: DrivenData Richter’s Predictor; train_values.csv + train_labels.csv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01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24A"/>
                </a:solidFill>
              </a:rPr>
              <a:t>Preprocessing and Model Workflow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1092708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Machine Learning Mini-Project  •  Nepal Earthquake Damage Prediction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92256" y="6510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" y="1636776"/>
            <a:ext cx="10570464" cy="676656"/>
          </a:xfrm>
          <a:prstGeom prst="roundRect">
            <a:avLst>
              <a:gd name="adj" fmla="val 13514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783080"/>
            <a:ext cx="393192" cy="393192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470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178308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24A"/>
                </a:solidFill>
              </a:rPr>
              <a:t>Load &amp; merge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76472" y="181051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544"/>
                </a:solidFill>
              </a:rPr>
              <a:t>Join CSV files using building_id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" y="2459736"/>
            <a:ext cx="10570464" cy="676656"/>
          </a:xfrm>
          <a:prstGeom prst="roundRect">
            <a:avLst>
              <a:gd name="adj" fmla="val 13514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2606040"/>
            <a:ext cx="393192" cy="393192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67004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26060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24A"/>
                </a:solidFill>
              </a:rPr>
              <a:t>Prepare data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76472" y="263347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544"/>
                </a:solidFill>
              </a:rPr>
              <a:t>Remove ID/label from inputs; one-hot encode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672" y="3282696"/>
            <a:ext cx="10570464" cy="676656"/>
          </a:xfrm>
          <a:prstGeom prst="roundRect">
            <a:avLst>
              <a:gd name="adj" fmla="val 13514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3429000"/>
            <a:ext cx="393192" cy="393192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49300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4290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24A"/>
                </a:solidFill>
              </a:rPr>
              <a:t>Split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776472" y="345643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544"/>
                </a:solidFill>
              </a:rPr>
              <a:t>80% training / 20% testing; stratified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4672" y="4105656"/>
            <a:ext cx="10570464" cy="676656"/>
          </a:xfrm>
          <a:prstGeom prst="roundRect">
            <a:avLst>
              <a:gd name="adj" fmla="val 13514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4251960"/>
            <a:ext cx="393192" cy="393192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31596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00200" y="425196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24A"/>
                </a:solidFill>
              </a:rPr>
              <a:t>Train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776472" y="427939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544"/>
                </a:solidFill>
              </a:rPr>
              <a:t>Random Forest with 100 decision trees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" y="4928616"/>
            <a:ext cx="10570464" cy="676656"/>
          </a:xfrm>
          <a:prstGeom prst="roundRect">
            <a:avLst>
              <a:gd name="adj" fmla="val 13514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" y="5074920"/>
            <a:ext cx="393192" cy="393192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513892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00200" y="507492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24A"/>
                </a:solidFill>
              </a:rPr>
              <a:t>Evaluate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3776472" y="510235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544"/>
                </a:solidFill>
              </a:rPr>
              <a:t>Accuracy, F1, confusion matrix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01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24A"/>
                </a:solidFill>
              </a:rPr>
              <a:t>Why Random Forest?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1092708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Machine Learning Mini-Project  •  Nepal Earthquake Damage Prediction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92256" y="6510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783080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1691640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3544"/>
                </a:solidFill>
              </a:rPr>
              <a:t>A supervised classification algorithm made up of decision trees.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41248" y="2615184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523744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3544"/>
                </a:solidFill>
              </a:rPr>
              <a:t>Each tree votes for a damage grade; the forest selects the most-voted grade.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41248" y="3447288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355848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3544"/>
                </a:solidFill>
              </a:rPr>
              <a:t>Works well with mixed numerical and encoded categorical inputs.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41248" y="4279392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4187952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3544"/>
                </a:solidFill>
              </a:rPr>
              <a:t>Model setting: n_estimators = 100; random_state = 42.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22960" y="5367528"/>
            <a:ext cx="10607040" cy="694944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5559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5F83"/>
                </a:solidFill>
              </a:rPr>
              <a:t>We use only one ML algorithm in this implementation.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01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24A"/>
                </a:solidFill>
              </a:rPr>
              <a:t>Test Results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1092708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Machine Learning Mini-Project  •  Nepal Earthquake Damage Prediction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92256" y="6510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728216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947672"/>
            <a:ext cx="4572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7A5B"/>
                </a:solidFill>
              </a:rPr>
              <a:t>71.60%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78992" y="25511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579"/>
                </a:solidFill>
              </a:rPr>
              <a:t>Accuracy / Micro F1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19088" y="1728216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947672"/>
            <a:ext cx="4572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324A"/>
                </a:solidFill>
              </a:rPr>
              <a:t>0.66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75120" y="25511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579"/>
                </a:solidFill>
              </a:rPr>
              <a:t>Macro F1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264408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483864"/>
            <a:ext cx="4572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324A"/>
                </a:solidFill>
              </a:rPr>
              <a:t>52,121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78992" y="4087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579"/>
                </a:solidFill>
              </a:rPr>
              <a:t>Test buildings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19088" y="3264408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483864"/>
            <a:ext cx="4572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324A"/>
                </a:solidFill>
              </a:rPr>
              <a:t>37,321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675120" y="4087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579"/>
                </a:solidFill>
              </a:rPr>
              <a:t>Correct predictions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056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5F83"/>
                </a:solidFill>
              </a:rPr>
              <a:t>Per-class F1 scores: Grade 1 = 0.55  •  Grade 2 = 0.77  •  Grade 3 = 0.65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5733288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579"/>
                </a:solidFill>
              </a:rPr>
              <a:t>Observed in the project’s held-out 20% split; not directly comparable to the paper’s separate test score.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01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24A"/>
                </a:solidFill>
              </a:rPr>
              <a:t>Model Errors: Confusion Matrix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1092708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Machine Learning Mini-Project  •  Nepal Earthquake Damage Prediction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92256" y="6510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7</a:t>
            </a:r>
            <a:endParaRPr lang="en-US" sz="900" dirty="0"/>
          </a:p>
        </p:txBody>
      </p:sp>
      <p:pic>
        <p:nvPicPr>
          <p:cNvPr id="8" name="Image 0" descr="/mnt/data/_confusion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54480"/>
            <a:ext cx="6766560" cy="44988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35824" y="1883664"/>
            <a:ext cx="3547872" cy="333756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21671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324A"/>
                </a:solidFill>
              </a:rPr>
              <a:t>Main finding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001000" y="2770632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53544"/>
                </a:solidFill>
              </a:rPr>
              <a:t>The model identifies moderate damage most reliably.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001000" y="3849624"/>
            <a:ext cx="2907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5F83"/>
                </a:solidFill>
              </a:rPr>
              <a:t>6,825 severely damaged buildings were classified as moderate.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01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IMPORTANCE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24A"/>
                </a:solidFill>
              </a:rPr>
              <a:t>Which Inputs Matter Most?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1092708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Machine Learning Mini-Project  •  Nepal Earthquake Damage Prediction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92256" y="6510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8</a:t>
            </a:r>
            <a:endParaRPr lang="en-US" sz="900" dirty="0"/>
          </a:p>
        </p:txBody>
      </p:sp>
      <p:pic>
        <p:nvPicPr>
          <p:cNvPr id="8" name="Image 0" descr="/mnt/data/image(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81912"/>
            <a:ext cx="7644384" cy="45171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892808"/>
            <a:ext cx="2862072" cy="3566160"/>
          </a:xfrm>
          <a:prstGeom prst="roundRect">
            <a:avLst>
              <a:gd name="adj" fmla="val 3195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68512" y="2139696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24A"/>
                </a:solidFill>
              </a:rPr>
              <a:t>Notable features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68512" y="2715768"/>
            <a:ext cx="230428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53544"/>
                </a:solidFill>
              </a:rPr>
              <a:t>Location codes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53544"/>
                </a:solidFill>
              </a:rPr>
              <a:t>Building age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53544"/>
                </a:solidFill>
              </a:rPr>
              <a:t>Area and height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53544"/>
                </a:solidFill>
              </a:rPr>
              <a:t>Construction factors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439912" y="5797296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579"/>
                </a:solidFill>
              </a:rPr>
              <a:t>Importance is predictive, not causal.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01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24A"/>
                </a:solidFill>
              </a:rPr>
              <a:t>Sample Prediction &amp; Limitations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1092708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Machine Learning Mini-Project  •  Nepal Earthquake Damage Prediction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92256" y="6510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691640"/>
            <a:ext cx="5504688" cy="4251960"/>
          </a:xfrm>
          <a:prstGeom prst="roundRect">
            <a:avLst>
              <a:gd name="adj" fmla="val 2151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84248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324A"/>
                </a:solidFill>
              </a:rPr>
              <a:t>Held-out test building #10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615184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3544"/>
                </a:solidFill>
              </a:rPr>
              <a:t>Floors: 2  •  Age: 5  •  Area %: 8  •  Height %: 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7398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7A5B"/>
                </a:solidFill>
              </a:rPr>
              <a:t>Predicted: Severe (Grade 3)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42793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7A5B"/>
                </a:solidFill>
              </a:rPr>
              <a:t>Actual: Severe (Grade 3)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48920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579"/>
                </a:solidFill>
              </a:rPr>
              <a:t>Estimated probability: 61.15%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19672" y="1691640"/>
            <a:ext cx="4864608" cy="4251960"/>
          </a:xfrm>
          <a:prstGeom prst="roundRect">
            <a:avLst>
              <a:gd name="adj" fmla="val 2151"/>
            </a:avLst>
          </a:prstGeom>
          <a:solidFill>
            <a:srgbClr val="F8FA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9933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324A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03136" y="2816352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2724912"/>
            <a:ext cx="3849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3544"/>
                </a:solidFill>
              </a:rPr>
              <a:t>Less reliable for low and severe damage.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03136" y="3621024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3529584"/>
            <a:ext cx="3849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3544"/>
                </a:solidFill>
              </a:rPr>
              <a:t>Damage labels depend on the dataset’s survey context.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03136" y="4425696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4032" y="4334256"/>
            <a:ext cx="3849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3544"/>
                </a:solidFill>
              </a:rPr>
              <a:t>Predictions do not replace engineering inspections.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01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24A"/>
                </a:solidFill>
              </a:rPr>
              <a:t>Conclusion &amp; References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1092708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Machine Learning Mini-Project  •  Nepal Earthquake Damage Prediction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92256" y="6510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579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673352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1581912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3544"/>
                </a:solidFill>
              </a:rPr>
              <a:t>A single Random Forest model predicts three building damage classes.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404872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313432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3544"/>
                </a:solidFill>
              </a:rPr>
              <a:t>The model achieved 71.60% held-out test accuracy.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136392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044952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3544"/>
                </a:solidFill>
              </a:rPr>
              <a:t>Location, age and structure-related inputs were influential.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867912"/>
            <a:ext cx="105156" cy="105156"/>
          </a:xfrm>
          <a:prstGeom prst="ellipse">
            <a:avLst/>
          </a:prstGeom>
          <a:solidFill>
            <a:srgbClr val="315F83"/>
          </a:solidFill>
          <a:ln w="12700">
            <a:solidFill>
              <a:srgbClr val="315F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3776472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3544"/>
                </a:solidFill>
              </a:rPr>
              <a:t>Future work could focus on improving minority-class recall.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681728"/>
            <a:ext cx="1051560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956048"/>
            <a:ext cx="10058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24A"/>
                </a:solidFill>
              </a:rPr>
              <a:t>References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5330952"/>
            <a:ext cx="10424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544"/>
                </a:solidFill>
              </a:rPr>
              <a:t>Y. Liang, “Application of Machine Learning Methods to Predict the Level of Buildings Damage in the Nepal Earthquake,” Stanford CS229, 2021.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870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579"/>
                </a:solidFill>
              </a:rPr>
              <a:t>DrivenData: Richter’s Predictor — Modeling Earthquake Damage (drivendata.org/competitions/57/nepal-earthquake/)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Nepal Earthquake Building Damage Prediction</dc:title>
  <dc:subject>Nepal Earthquake Damage Prediction</dc:subject>
  <dc:creator>ML Mini Project</dc:creator>
  <cp:lastModifiedBy>ML Mini Project</cp:lastModifiedBy>
  <cp:revision>1</cp:revision>
  <dcterms:created xsi:type="dcterms:W3CDTF">2026-10-09T18:08:42Z</dcterms:created>
  <dcterms:modified xsi:type="dcterms:W3CDTF">2026-10-09T18:08:42Z</dcterms:modified>
</cp:coreProperties>
</file>